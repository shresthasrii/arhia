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2"/>
    <p:sldId id="299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95326" y="182384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4843" y="135135"/>
            <a:ext cx="8534400" cy="124131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155203" y="-523795"/>
            <a:ext cx="7764040" cy="1794533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761" y="1107726"/>
            <a:ext cx="6254350" cy="530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SIH26204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Personal Assistant for Proactive Daily Task Automation and Inclusive Accessibility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Theme- Assistive Technologies and Inclusive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Team ID- SIH2026-314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Arial" panose="020B0604020202020204" pitchFamily="34" charset="0"/>
                <a:cs typeface="Arial" panose="020B0604020202020204" pitchFamily="34" charset="0"/>
              </a:rPr>
              <a:t>Team Name: Code Kendra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50" b="1" dirty="0">
                <a:latin typeface="Arial" panose="020B0604020202020204" pitchFamily="34" charset="0"/>
                <a:cs typeface="Arial" panose="020B0604020202020204" pitchFamily="34" charset="0"/>
              </a:rPr>
              <a:t>Team Leader Name : Shrestha Srivastava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50" b="1" dirty="0">
                <a:latin typeface="Arial" panose="020B0604020202020204" pitchFamily="34" charset="0"/>
                <a:cs typeface="Arial" panose="020B0604020202020204" pitchFamily="34" charset="0"/>
              </a:rPr>
              <a:t>Team Leader USN Number: ENG25CS0760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50" y="45389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73C0F3-4675-8B0B-A71E-B654B46C9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" y="14990"/>
            <a:ext cx="2233152" cy="7169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FAEC3B-2AA2-61DE-2C3C-C833E41E2B86}"/>
              </a:ext>
            </a:extLst>
          </p:cNvPr>
          <p:cNvSpPr/>
          <p:nvPr/>
        </p:nvSpPr>
        <p:spPr>
          <a:xfrm>
            <a:off x="0" y="6520723"/>
            <a:ext cx="12192000" cy="3372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solidFill>
                  <a:schemeClr val="tx1"/>
                </a:solidFill>
              </a:rPr>
              <a:t>School of Engineering, Dayananda Sagar University, Bengaluru - </a:t>
            </a:r>
            <a:r>
              <a:rPr lang="en-IN" sz="1400" spc="300" dirty="0">
                <a:solidFill>
                  <a:schemeClr val="tx1"/>
                </a:solidFill>
              </a:rPr>
              <a:t>562112</a:t>
            </a:r>
            <a:r>
              <a:rPr lang="en-US" sz="1400" spc="300" dirty="0">
                <a:solidFill>
                  <a:schemeClr val="tx1"/>
                </a:solidFill>
              </a:rPr>
              <a:t>.</a:t>
            </a:r>
            <a:endParaRPr lang="en-IN" sz="1400" spc="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36522"/>
            <a:ext cx="10972800" cy="57912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800" b="1" dirty="0"/>
              <a:t>AEGIS — </a:t>
            </a:r>
            <a:br>
              <a:rPr lang="en-IN" sz="2800" b="1" dirty="0"/>
            </a:br>
            <a:r>
              <a:rPr lang="en-IN" sz="2800" b="1" dirty="0"/>
              <a:t>Assisted Executive Guidance and Intelligence System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111429"/>
            <a:ext cx="11909415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/>
              <a:t>Detailed Explanation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Personalized AI agent </a:t>
            </a:r>
            <a:r>
              <a:rPr lang="en-IN" dirty="0"/>
              <a:t>understands user goals, preferences and context, converting natural-language or voice requests into actionable, multi-step tasks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Interacts with authorized apps, files, APIs, and devices — </a:t>
            </a:r>
            <a:r>
              <a:rPr lang="en-IN" b="1" dirty="0"/>
              <a:t>providing feedback </a:t>
            </a:r>
            <a:r>
              <a:rPr lang="en-IN" dirty="0"/>
              <a:t>to the user </a:t>
            </a:r>
            <a:r>
              <a:rPr lang="en-IN" b="1" dirty="0"/>
              <a:t>throughout execution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How It Addresses the Problem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Reduces cognitive load, repetitive work, and manual interaction by </a:t>
            </a:r>
            <a:r>
              <a:rPr lang="en-IN" b="1" dirty="0"/>
              <a:t>proactively handling predictable tasks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Accessibility-first design (voice, TTS, visual/haptic feedback, alternative inputs) enables greater digital independence for users with different abilities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Innovation &amp; Uniqueness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Focuses on the user's goal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Combines personal memory + contextual reasoning + vision + </a:t>
            </a:r>
          </a:p>
          <a:p>
            <a:pPr lvl="0"/>
            <a:r>
              <a:rPr lang="en-IN" dirty="0"/>
              <a:t>authorized automation + accessibility to </a:t>
            </a:r>
            <a:r>
              <a:rPr lang="en-IN" b="1" dirty="0"/>
              <a:t>determine </a:t>
            </a:r>
            <a:r>
              <a:rPr lang="en-IN" b="1" i="1" dirty="0"/>
              <a:t>how</a:t>
            </a:r>
            <a:r>
              <a:rPr lang="en-IN" b="1" dirty="0"/>
              <a:t> a task gets done</a:t>
            </a:r>
          </a:p>
          <a:p>
            <a:pPr lvl="0"/>
            <a:r>
              <a:rPr lang="en-IN" b="1" i="1" dirty="0">
                <a:solidFill>
                  <a:srgbClr val="FF0000"/>
                </a:solidFill>
              </a:rPr>
              <a:t>             "Tell AEGIS what you want. AEGIS determines how to get it done."</a:t>
            </a:r>
            <a:endParaRPr lang="en-IN" sz="3600" b="1" i="1" dirty="0">
              <a:solidFill>
                <a:srgbClr val="FF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</a:p>
          <a:p>
            <a:pPr algn="ctr"/>
            <a:r>
              <a:rPr lang="en-US" dirty="0"/>
              <a:t>Kendra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58299B-9C01-3081-76A9-4FBF2DB1B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29" y="3797254"/>
            <a:ext cx="4999870" cy="25315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 dirty="0">
                <a:solidFill>
                  <a:srgbClr val="192D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900" b="1" dirty="0"/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Kendra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INPUT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 dirty="0"/>
              <a:t>Microphone / Camera / Chat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2221992" y="2743200"/>
            <a:ext cx="228600" cy="0"/>
          </a:xfrm>
          <a:prstGeom prst="line">
            <a:avLst/>
          </a:prstGeom>
          <a:ln w="25400">
            <a:solidFill>
              <a:srgbClr val="416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ounded Rectangle 17411"/>
          <p:cNvSpPr/>
          <p:nvPr/>
        </p:nvSpPr>
        <p:spPr>
          <a:xfrm>
            <a:off x="2450592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UNDERSTAND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 dirty="0"/>
              <a:t>Faster-Whisper + YOLOv5m ONNX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078224" y="2743200"/>
            <a:ext cx="228600" cy="0"/>
          </a:xfrm>
          <a:prstGeom prst="line">
            <a:avLst/>
          </a:prstGeom>
          <a:ln w="25400">
            <a:solidFill>
              <a:srgbClr val="416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306824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ROUTE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 dirty="0"/>
              <a:t>Deterministic Router &lt;5 </a:t>
            </a:r>
            <a:r>
              <a:rPr b="1" dirty="0" err="1"/>
              <a:t>ms</a:t>
            </a:r>
            <a:endParaRPr b="1" dirty="0"/>
          </a:p>
        </p:txBody>
      </p:sp>
      <p:cxnSp>
        <p:nvCxnSpPr>
          <p:cNvPr id="17415" name="Connector 17414"/>
          <p:cNvCxnSpPr/>
          <p:nvPr/>
        </p:nvCxnSpPr>
        <p:spPr>
          <a:xfrm>
            <a:off x="5934456" y="2743200"/>
            <a:ext cx="228600" cy="0"/>
          </a:xfrm>
          <a:prstGeom prst="line">
            <a:avLst/>
          </a:prstGeom>
          <a:ln w="25400">
            <a:solidFill>
              <a:srgbClr val="416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6163056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REASON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 dirty="0"/>
              <a:t>Gemini 2.5 Flash </a:t>
            </a:r>
            <a:r>
              <a:rPr lang="en-US" b="1" dirty="0"/>
              <a:t>(API)</a:t>
            </a:r>
            <a:r>
              <a:rPr b="1" dirty="0"/>
              <a:t>+ </a:t>
            </a:r>
            <a:r>
              <a:rPr lang="en-US" b="1" dirty="0"/>
              <a:t>Free Search</a:t>
            </a:r>
            <a:endParaRPr b="1" dirty="0"/>
          </a:p>
        </p:txBody>
      </p:sp>
      <p:cxnSp>
        <p:nvCxnSpPr>
          <p:cNvPr id="17417" name="Connector 17416"/>
          <p:cNvCxnSpPr/>
          <p:nvPr/>
        </p:nvCxnSpPr>
        <p:spPr>
          <a:xfrm>
            <a:off x="7790688" y="2743200"/>
            <a:ext cx="228600" cy="0"/>
          </a:xfrm>
          <a:prstGeom prst="line">
            <a:avLst/>
          </a:prstGeom>
          <a:ln w="25400">
            <a:solidFill>
              <a:srgbClr val="416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8019288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/>
              <a:t>ACT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/>
              <a:t>Win32 / Browser / Media / Reminders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9646920" y="2743200"/>
            <a:ext cx="228600" cy="0"/>
          </a:xfrm>
          <a:prstGeom prst="line">
            <a:avLst/>
          </a:prstGeom>
          <a:ln w="25400">
            <a:solidFill>
              <a:srgbClr val="416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9875520" y="1828800"/>
            <a:ext cx="1627632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/>
              <a:t>MEMORY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/>
              <a:t>SQLite + Spatial Episodic Memory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4069080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92D46"/>
                </a:solidFill>
                <a:latin typeface="Arial"/>
              </a:rPr>
              <a:t>Key implementation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4434840"/>
            <a:ext cx="10241280" cy="165276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FastAPI</a:t>
            </a:r>
            <a:r>
              <a:rPr b="1" dirty="0"/>
              <a:t> + </a:t>
            </a:r>
            <a:r>
              <a:rPr b="1" dirty="0" err="1"/>
              <a:t>Uvicorn</a:t>
            </a:r>
            <a:r>
              <a:rPr b="1" dirty="0"/>
              <a:t> • React 18 + TypeScript + Vite • WebSocket event bus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ONNX Runtime local vision with EMA smoothing + 850 </a:t>
            </a:r>
            <a:r>
              <a:rPr b="1" dirty="0" err="1"/>
              <a:t>ms</a:t>
            </a:r>
            <a:r>
              <a:rPr b="1" dirty="0"/>
              <a:t> persistence to reduce jitter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AegisAgent</a:t>
            </a:r>
            <a:r>
              <a:rPr b="1" dirty="0"/>
              <a:t> (</a:t>
            </a:r>
            <a:r>
              <a:rPr b="1" dirty="0" err="1"/>
              <a:t>ReAct</a:t>
            </a:r>
            <a:r>
              <a:rPr b="1" dirty="0"/>
              <a:t>) for multi-step tool calling; </a:t>
            </a:r>
            <a:r>
              <a:rPr b="1" dirty="0" err="1"/>
              <a:t>APScheduler</a:t>
            </a:r>
            <a:r>
              <a:rPr b="1" dirty="0"/>
              <a:t> for reminders</a:t>
            </a:r>
          </a:p>
          <a:p>
            <a:br>
              <a:rPr dirty="0"/>
            </a:br>
            <a:br>
              <a:rPr dirty="0"/>
            </a:br>
            <a:r>
              <a:rPr b="1" dirty="0" err="1"/>
              <a:t>FastAPI</a:t>
            </a:r>
            <a:r>
              <a:rPr b="1" dirty="0"/>
              <a:t> • React 18 • WebSocket • ONNX • YOLO • SQLite • Windows Native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94BA10-5524-3203-BFFB-CE64034C9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D71563B2-1DA0-4283-E313-CC64CC32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solidFill>
                  <a:srgbClr val="192D46"/>
                </a:solidFill>
                <a:latin typeface="Times New Roman"/>
              </a:rPr>
              <a:t>FEASIBILITY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1"/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Kendra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85800" y="141732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TECHNICAL FEASIBILITY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rPr b="1"/>
              <a:t>Uses mature Python/React components, local ONNX inference and Windows APIs.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41732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OPERATIONAL FEASIBILITY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rPr b="1"/>
              <a:t>1-click PowerShell launch; modular services; deterministic paths for frequent tasks.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818120" y="141732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ACCESSIBILITY FEASIBILITY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rPr b="1"/>
              <a:t>Voice-first workflows, barge-in, high contrast and OpenDyslexic support.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3063240"/>
            <a:ext cx="36576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92D46"/>
                </a:solidFill>
                <a:latin typeface="Arial"/>
              </a:rPr>
              <a:t>Challenges → Mitigations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3520440"/>
            <a:ext cx="10241280" cy="225292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LLM latency / cost → deterministic local router handles frequent commands in &lt;5 </a:t>
            </a:r>
            <a:r>
              <a:rPr b="1" dirty="0" err="1"/>
              <a:t>ms.</a:t>
            </a:r>
            <a:endParaRPr b="1" dirty="0"/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Vision instability → EMA coordinate smoothing + persistence buffer.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Privacy risk → spatial memory stores compact snapshots rather than raw video.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Cloud dependency → core desktop control and vision remain locally executable.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Automation safety → explicit user intent, provider prompts and controlled tool interfaces.</a:t>
            </a:r>
          </a:p>
          <a:p>
            <a:br>
              <a:rPr dirty="0"/>
            </a:br>
            <a:br>
              <a:rPr dirty="0"/>
            </a:br>
            <a:r>
              <a:rPr b="1" dirty="0"/>
              <a:t>On-Device Vision • Spatial Reasoning • Visual Memory • EMA Smoothing • AR HUD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2E4A0-EFED-6CDE-0047-4A7B6221D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1A38248-CFD6-22E5-3637-58D20001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solidFill>
                  <a:srgbClr val="192D46"/>
                </a:solidFill>
                <a:latin typeface="Times New Roman"/>
              </a:rPr>
              <a:t>IMPACT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1"/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Kendra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FOR USERS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t>Hands-free task execution, faster interaction and lower cognitive overhead.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41732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FOR ACCESSIBILITY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rPr b="1"/>
              <a:t>Supports users who benefit from voice control, visual assistance and simplified interaction.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818120" y="141732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FOR PRODUCTIVITY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t>Directly opens apps/media, reads system state, manages reminders and automates workflows.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3246120"/>
            <a:ext cx="27432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92D46"/>
                </a:solidFill>
                <a:latin typeface="Arial"/>
              </a:rPr>
              <a:t>Differentiators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3703320"/>
            <a:ext cx="10149840" cy="225292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dirty="0"/>
              <a:t>• SEE: identifies objects and remembers their relative spatial context.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HEAR: low-latency speech transcription with instant barge-in.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KNOW: routes complex questions to an LLM with live-search fallback.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ACT: deterministic OS/browser automation instead of passive search results.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REMEMBER: profile, reminders, routines and episodic visual memory.</a:t>
            </a:r>
          </a:p>
          <a:p>
            <a:br>
              <a:rPr dirty="0"/>
            </a:br>
            <a:br>
              <a:rPr dirty="0"/>
            </a:br>
            <a:r>
              <a:rPr b="1" dirty="0"/>
              <a:t>Faster-Whisper • Edge-TTS • Barge-In • Deterministic Routing • Desktop Automation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2B8AE-6FAB-5378-FB10-AFFAAE9FB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574CC38-C645-F4AA-2E92-9F952E9D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192D46"/>
                </a:solidFill>
                <a:latin typeface="Times New Roman"/>
              </a:rPr>
              <a:t>RESEARCH, VALIDATION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1"/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Kendra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85800" y="132588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VALIDATION</a:t>
            </a:r>
          </a:p>
          <a:p>
            <a:pPr>
              <a:spcBef>
                <a:spcPts val="400"/>
              </a:spcBef>
              <a:defRPr sz="1200">
                <a:solidFill>
                  <a:srgbClr val="373C41"/>
                </a:solidFill>
                <a:latin typeface="Arial"/>
              </a:defRPr>
            </a:pPr>
            <a:r>
              <a:t>42 / 42 automated tests passed (100%) across unit, integration and E2E layers.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32588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PERFORMANCE</a:t>
            </a:r>
          </a:p>
          <a:p>
            <a:pPr>
              <a:spcBef>
                <a:spcPts val="400"/>
              </a:spcBef>
              <a:defRPr sz="1100">
                <a:solidFill>
                  <a:srgbClr val="373C41"/>
                </a:solidFill>
                <a:latin typeface="Arial"/>
              </a:defRPr>
            </a:pPr>
            <a:r>
              <a:rPr b="1"/>
              <a:t>Sub-5 ms deterministic dispatch for core commands; speech barge-in cancellation targeted within 50 ms.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818120" y="132588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PRIVACY DESIGN</a:t>
            </a:r>
          </a:p>
          <a:p>
            <a:pPr>
              <a:spcBef>
                <a:spcPts val="400"/>
              </a:spcBef>
              <a:defRPr sz="1100">
                <a:solidFill>
                  <a:srgbClr val="373C41"/>
                </a:solidFill>
                <a:latin typeface="Arial"/>
              </a:defRPr>
            </a:pPr>
            <a:r>
              <a:t>Spatial episodic memory records categories, relationships and timestamps—not raw video.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2880360"/>
            <a:ext cx="56692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92D46"/>
                </a:solidFill>
                <a:latin typeface="Arial"/>
              </a:rPr>
              <a:t>Primary technical references in the submitted brief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3291840"/>
            <a:ext cx="10149840" cy="2160591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FastAPI</a:t>
            </a:r>
            <a:r>
              <a:rPr b="1" dirty="0"/>
              <a:t> / </a:t>
            </a:r>
            <a:r>
              <a:rPr b="1" dirty="0" err="1"/>
              <a:t>Uvicorn</a:t>
            </a:r>
            <a:r>
              <a:rPr b="1" dirty="0"/>
              <a:t> — asynchronous backend and WebSocket gateway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React 18 + TypeScript + Tailwind CSS — accessible desktop UI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ONNX Runtime + YOLOv5m — local real-time object detection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Faster-Whisper + Edge-TTS — voice interaction pipeline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b="1" dirty="0"/>
              <a:t>• SQLite + </a:t>
            </a:r>
            <a:r>
              <a:rPr b="1" dirty="0" err="1"/>
              <a:t>SQLAlchemy</a:t>
            </a:r>
            <a:r>
              <a:rPr b="1" dirty="0"/>
              <a:t> + </a:t>
            </a:r>
            <a:r>
              <a:rPr b="1" dirty="0" err="1"/>
              <a:t>APScheduler</a:t>
            </a:r>
            <a:r>
              <a:rPr b="1" dirty="0"/>
              <a:t> — memory, profiles and reminders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rPr dirty="0"/>
              <a:t>• Gemini 2.5 Flash + DuckDuckGo Search — reasoning and live factual fallback</a:t>
            </a:r>
          </a:p>
          <a:p>
            <a:br>
              <a:rPr dirty="0"/>
            </a:br>
            <a:r>
              <a:rPr b="1" dirty="0"/>
              <a:t>Feasibility • Privacy-Aware Memory • Low Latency • Risk Mitigation • Scalable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E9134-01EF-552E-97CB-D8ECD4597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F66BF49F-2FE4-EF9C-404B-F413080E4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1"/>
              <a:t>7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6707" y="365760"/>
            <a:ext cx="98755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600" b="1" dirty="0">
                <a:solidFill>
                  <a:srgbClr val="192D46"/>
                </a:solidFill>
                <a:latin typeface="Times New Roman"/>
              </a:rPr>
              <a:t>IMPLEMENTATION STATUS &amp;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53035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IMPLEMENTED</a:t>
            </a:r>
          </a:p>
          <a:p>
            <a:pPr>
              <a:spcBef>
                <a:spcPts val="400"/>
              </a:spcBef>
              <a:defRPr sz="1100">
                <a:solidFill>
                  <a:srgbClr val="373C41"/>
                </a:solidFill>
                <a:latin typeface="Arial"/>
              </a:defRPr>
            </a:pPr>
            <a:r>
              <a:rPr b="1" dirty="0"/>
              <a:t>Voice STT/TTS • Vision • Spatial memory • Router • YouTube • App launch • Hardware controls • Reminders • Auth</a:t>
            </a:r>
            <a:br>
              <a:rPr dirty="0"/>
            </a:br>
            <a:br>
              <a:rPr dirty="0"/>
            </a:br>
            <a:r>
              <a:rPr sz="1100" b="1" dirty="0">
                <a:solidFill>
                  <a:schemeClr val="tx1"/>
                </a:solidFill>
              </a:rPr>
              <a:t>Inclusive Innovation • Independence • Productivity • Assistive Technology </a:t>
            </a:r>
            <a:r>
              <a:rPr lang="en-IN" sz="1100" b="1" dirty="0">
                <a:solidFill>
                  <a:schemeClr val="tx1"/>
                </a:solidFill>
              </a:rPr>
              <a:t>•</a:t>
            </a:r>
            <a:r>
              <a:rPr sz="1100" b="1" dirty="0">
                <a:solidFill>
                  <a:schemeClr val="tx1"/>
                </a:solidFill>
              </a:rPr>
              <a:t> Future Scalability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Arial"/>
              </a:defRPr>
            </a:pPr>
            <a:r>
              <a:rPr b="1"/>
              <a:t>PROTOTYPE READY</a:t>
            </a:r>
          </a:p>
          <a:p>
            <a:pPr>
              <a:spcBef>
                <a:spcPts val="400"/>
              </a:spcBef>
              <a:defRPr sz="1100">
                <a:solidFill>
                  <a:srgbClr val="373C41"/>
                </a:solidFill>
                <a:latin typeface="Arial"/>
              </a:defRPr>
            </a:pPr>
            <a:r>
              <a:rPr b="1"/>
              <a:t>Windows 10/11 native engine • FastAPI backend • React frontend • 42/42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92D46"/>
                </a:solidFill>
                <a:latin typeface="Arial"/>
              </a:rPr>
              <a:t>Next-stage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516636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/>
              <a:t>01  Personalization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/>
              <a:t>Learn routine patterns and improve proactive suggestions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20440"/>
            <a:ext cx="516636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 dirty="0"/>
              <a:t>02  Accessibility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 dirty="0"/>
              <a:t>Expand assistive workflows and multimodal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516636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/>
              <a:t>03  Reliability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/>
              <a:t>Add more deterministic tools, safety checks and recovery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572000"/>
            <a:ext cx="516636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BE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defRPr sz="1300" b="1">
                <a:solidFill>
                  <a:srgbClr val="192D46"/>
                </a:solidFill>
                <a:latin typeface="Arial"/>
              </a:defRPr>
            </a:pPr>
            <a:r>
              <a:rPr b="1"/>
              <a:t>04  Scale</a:t>
            </a:r>
          </a:p>
          <a:p>
            <a:pPr>
              <a:spcBef>
                <a:spcPts val="400"/>
              </a:spcBef>
              <a:defRPr sz="1000">
                <a:solidFill>
                  <a:srgbClr val="373C41"/>
                </a:solidFill>
                <a:latin typeface="Arial"/>
              </a:defRPr>
            </a:pPr>
            <a:r>
              <a:rPr b="1"/>
              <a:t>Package for broader Windows deployment and richer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2412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16991"/>
                </a:solidFill>
                <a:latin typeface="Arial"/>
              </a:rPr>
              <a:t>AEGIS turns a conversational assistant into an actionable, inclusive desktop agent.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5320A-63D7-1454-1D1A-164E846F9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98C28531-66C6-6AF0-B464-136EABF3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 dirty="0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2264DB01-37B1-A6D7-6810-6BA7668DBA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Kendra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90A4AB-87A2-4DEF-5E88-06A22BDE4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7567</TotalTime>
  <Words>932</Words>
  <Application>Microsoft Office PowerPoint</Application>
  <PresentationFormat>Widescreen</PresentationFormat>
  <Paragraphs>126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AEGIS —  Assisted Executive Guidance and Intelligence System</vt:lpstr>
      <vt:lpstr>TECHNICAL APPROACH</vt:lpstr>
      <vt:lpstr>FEASIBILITY &amp; VIABILITY</vt:lpstr>
      <vt:lpstr>IMPACT &amp; BENEFITS</vt:lpstr>
      <vt:lpstr>RESEARCH, VALIDATION &amp;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Shrestha Srivastava</cp:lastModifiedBy>
  <cp:revision>150</cp:revision>
  <dcterms:created xsi:type="dcterms:W3CDTF">2013-12-12T18:46:50Z</dcterms:created>
  <dcterms:modified xsi:type="dcterms:W3CDTF">2026-09-05T04:59:16Z</dcterms:modified>
  <cp:category/>
</cp:coreProperties>
</file>